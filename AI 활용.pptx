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ContentType="application/vnd.openxmlformats-officedocument.custom-properties+xml" PartName="/docProps/custom.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Relationship Id="rId5" Target="docProps/custom.xml" Type="http://schemas.openxmlformats.org/officeDocument/2006/relationships/custom-properties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694" autoAdjust="0"/>
    <p:restoredTop sz="94622" autoAdjust="0"/>
  </p:normalViewPr>
  <p:slideViewPr>
    <p:cSldViewPr>
      <p:cViewPr varScale="1">
        <p:scale>
          <a:sx n="78" d="100"/>
          <a:sy n="78" d="100"/>
        </p:scale>
        <p:origin x="114" y="20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3A91A349-2948-45FC-AC01-22E26A1ABB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6200" y="3429000"/>
            <a:ext cx="8077200" cy="5433637"/>
          </a:xfrm>
          <a:prstGeom prst="rect">
            <a:avLst/>
          </a:prstGeom>
        </p:spPr>
      </p:pic>
      <p:cxnSp>
        <p:nvCxnSpPr>
          <p:cNvPr id="8" name="연결선: 꺾임 7">
            <a:extLst>
              <a:ext uri="{FF2B5EF4-FFF2-40B4-BE49-F238E27FC236}">
                <a16:creationId xmlns:a16="http://schemas.microsoft.com/office/drawing/2014/main" id="{331C6089-BE3C-4EB0-B9BD-13CC720CDED5}"/>
              </a:ext>
            </a:extLst>
          </p:cNvPr>
          <p:cNvCxnSpPr>
            <a:cxnSpLocks/>
            <a:stCxn id="30" idx="2"/>
            <a:endCxn id="6" idx="0"/>
          </p:cNvCxnSpPr>
          <p:nvPr/>
        </p:nvCxnSpPr>
        <p:spPr>
          <a:xfrm rot="16200000" flipH="1">
            <a:off x="4145044" y="2189244"/>
            <a:ext cx="1269084" cy="1210428"/>
          </a:xfrm>
          <a:prstGeom prst="bentConnector3">
            <a:avLst>
              <a:gd name="adj1" fmla="val 4026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연결선: 꺾임 9">
            <a:extLst>
              <a:ext uri="{FF2B5EF4-FFF2-40B4-BE49-F238E27FC236}">
                <a16:creationId xmlns:a16="http://schemas.microsoft.com/office/drawing/2014/main" id="{3586995D-5AD0-4AEA-8BB8-3A8B69F338B4}"/>
              </a:ext>
            </a:extLst>
          </p:cNvPr>
          <p:cNvCxnSpPr>
            <a:cxnSpLocks/>
            <a:stCxn id="36" idx="2"/>
            <a:endCxn id="6" idx="0"/>
          </p:cNvCxnSpPr>
          <p:nvPr/>
        </p:nvCxnSpPr>
        <p:spPr>
          <a:xfrm rot="5400000">
            <a:off x="5316678" y="1684478"/>
            <a:ext cx="1812644" cy="1676400"/>
          </a:xfrm>
          <a:prstGeom prst="bentConnector3">
            <a:avLst>
              <a:gd name="adj1" fmla="val 5818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연결선: 꺾임 10">
            <a:extLst>
              <a:ext uri="{FF2B5EF4-FFF2-40B4-BE49-F238E27FC236}">
                <a16:creationId xmlns:a16="http://schemas.microsoft.com/office/drawing/2014/main" id="{61D50002-05C4-4401-83DB-63CCCE98F1CB}"/>
              </a:ext>
            </a:extLst>
          </p:cNvPr>
          <p:cNvCxnSpPr>
            <a:cxnSpLocks/>
            <a:stCxn id="29" idx="2"/>
            <a:endCxn id="6" idx="0"/>
          </p:cNvCxnSpPr>
          <p:nvPr/>
        </p:nvCxnSpPr>
        <p:spPr>
          <a:xfrm rot="16200000" flipH="1">
            <a:off x="2581706" y="625906"/>
            <a:ext cx="1543404" cy="406278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5B481FDD-15FB-42D1-89C9-05CDF8A504AA}"/>
              </a:ext>
            </a:extLst>
          </p:cNvPr>
          <p:cNvSpPr/>
          <p:nvPr/>
        </p:nvSpPr>
        <p:spPr>
          <a:xfrm>
            <a:off x="9992336" y="8677971"/>
            <a:ext cx="594444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/>
              <a:t>스트림릿</a:t>
            </a:r>
            <a:r>
              <a:rPr lang="en-US" altLang="ko-KR"/>
              <a:t>(Streamlit)</a:t>
            </a:r>
            <a:r>
              <a:rPr lang="ko-KR" altLang="en-US"/>
              <a:t> </a:t>
            </a:r>
            <a:r>
              <a:rPr lang="en-US" altLang="ko-KR"/>
              <a:t>: </a:t>
            </a:r>
            <a:r>
              <a:rPr lang="ko-KR" altLang="en-US"/>
              <a:t>파이썬 코드를 웹 화면으로 변환 도구</a:t>
            </a:r>
            <a:endParaRPr lang="ko-KR" altLang="en-US" dirty="0"/>
          </a:p>
        </p:txBody>
      </p:sp>
      <p:graphicFrame>
        <p:nvGraphicFramePr>
          <p:cNvPr id="29" name="표 28">
            <a:extLst>
              <a:ext uri="{FF2B5EF4-FFF2-40B4-BE49-F238E27FC236}">
                <a16:creationId xmlns:a16="http://schemas.microsoft.com/office/drawing/2014/main" id="{5297ECA8-8CF9-4D5D-BE38-854EEB0BDB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470429"/>
              </p:ext>
            </p:extLst>
          </p:nvPr>
        </p:nvGraphicFramePr>
        <p:xfrm>
          <a:off x="576724" y="874676"/>
          <a:ext cx="1490584" cy="101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0584">
                  <a:extLst>
                    <a:ext uri="{9D8B030D-6E8A-4147-A177-3AD203B41FA5}">
                      <a16:colId xmlns:a16="http://schemas.microsoft.com/office/drawing/2014/main" val="40361282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아이디어 </a:t>
                      </a:r>
                      <a:endParaRPr lang="en-US" altLang="ko-KR" dirty="0"/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기본구성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57925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나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9591956"/>
                  </a:ext>
                </a:extLst>
              </a:tr>
            </a:tbl>
          </a:graphicData>
        </a:graphic>
      </p:graphicFrame>
      <p:graphicFrame>
        <p:nvGraphicFramePr>
          <p:cNvPr id="30" name="표 29">
            <a:extLst>
              <a:ext uri="{FF2B5EF4-FFF2-40B4-BE49-F238E27FC236}">
                <a16:creationId xmlns:a16="http://schemas.microsoft.com/office/drawing/2014/main" id="{04C8789C-0ACE-4058-AA61-E0D81C16F2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2524897"/>
              </p:ext>
            </p:extLst>
          </p:nvPr>
        </p:nvGraphicFramePr>
        <p:xfrm>
          <a:off x="2963944" y="874676"/>
          <a:ext cx="2420856" cy="1285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0856">
                  <a:extLst>
                    <a:ext uri="{9D8B030D-6E8A-4147-A177-3AD203B41FA5}">
                      <a16:colId xmlns:a16="http://schemas.microsoft.com/office/drawing/2014/main" val="40361282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ko-KR" altLang="en-US" dirty="0"/>
                        <a:t>구현 방법 검토</a:t>
                      </a:r>
                      <a:endParaRPr lang="en-US" altLang="ko-KR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아이디어 구체화 </a:t>
                      </a:r>
                      <a:endParaRPr lang="en-US" altLang="ko-KR" dirty="0"/>
                    </a:p>
                    <a:p>
                      <a:r>
                        <a:rPr lang="en-US" altLang="ko-KR" dirty="0"/>
                        <a:t>Coding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57925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ko-KR" dirty="0"/>
                        <a:t>GEMINI / Chat GPT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9591956"/>
                  </a:ext>
                </a:extLst>
              </a:tr>
            </a:tbl>
          </a:graphicData>
        </a:graphic>
      </p:graphicFrame>
      <p:graphicFrame>
        <p:nvGraphicFramePr>
          <p:cNvPr id="33" name="표 32">
            <a:extLst>
              <a:ext uri="{FF2B5EF4-FFF2-40B4-BE49-F238E27FC236}">
                <a16:creationId xmlns:a16="http://schemas.microsoft.com/office/drawing/2014/main" id="{FB5A9C42-FC7D-45B7-B4B6-8B7DD3A778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5245557"/>
              </p:ext>
            </p:extLst>
          </p:nvPr>
        </p:nvGraphicFramePr>
        <p:xfrm>
          <a:off x="11404600" y="874676"/>
          <a:ext cx="2212148" cy="101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2148">
                  <a:extLst>
                    <a:ext uri="{9D8B030D-6E8A-4147-A177-3AD203B41FA5}">
                      <a16:colId xmlns:a16="http://schemas.microsoft.com/office/drawing/2014/main" val="40361282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실행 코드 배포</a:t>
                      </a:r>
                      <a:r>
                        <a:rPr lang="en-US" altLang="ko-KR" dirty="0"/>
                        <a:t> 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57925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ko-KR" altLang="en-US" dirty="0" err="1"/>
                        <a:t>스트림릿</a:t>
                      </a:r>
                      <a:r>
                        <a:rPr lang="en-US" altLang="ko-KR" dirty="0"/>
                        <a:t>(</a:t>
                      </a:r>
                      <a:r>
                        <a:rPr lang="en-US" altLang="ko-KR" dirty="0" err="1"/>
                        <a:t>Streamlit</a:t>
                      </a:r>
                      <a:r>
                        <a:rPr lang="en-US" altLang="ko-KR" dirty="0"/>
                        <a:t>)</a:t>
                      </a:r>
                      <a:r>
                        <a:rPr lang="ko-KR" altLang="en-US" dirty="0"/>
                        <a:t> 클라우드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9591956"/>
                  </a:ext>
                </a:extLst>
              </a:tr>
            </a:tbl>
          </a:graphicData>
        </a:graphic>
      </p:graphicFrame>
      <p:graphicFrame>
        <p:nvGraphicFramePr>
          <p:cNvPr id="34" name="표 33">
            <a:extLst>
              <a:ext uri="{FF2B5EF4-FFF2-40B4-BE49-F238E27FC236}">
                <a16:creationId xmlns:a16="http://schemas.microsoft.com/office/drawing/2014/main" id="{0F4EDCC7-30EF-4A25-99FB-D2AF8CE917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3769347"/>
              </p:ext>
            </p:extLst>
          </p:nvPr>
        </p:nvGraphicFramePr>
        <p:xfrm>
          <a:off x="13995400" y="874676"/>
          <a:ext cx="1905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000">
                  <a:extLst>
                    <a:ext uri="{9D8B030D-6E8A-4147-A177-3AD203B41FA5}">
                      <a16:colId xmlns:a16="http://schemas.microsoft.com/office/drawing/2014/main" val="40361282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코드 저장소</a:t>
                      </a:r>
                      <a:r>
                        <a:rPr lang="en-US" altLang="ko-KR" dirty="0"/>
                        <a:t> 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57925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ko-KR" dirty="0"/>
                        <a:t>Git Hub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9591956"/>
                  </a:ext>
                </a:extLst>
              </a:tr>
            </a:tbl>
          </a:graphicData>
        </a:graphic>
      </p:graphicFrame>
      <p:graphicFrame>
        <p:nvGraphicFramePr>
          <p:cNvPr id="35" name="표 34">
            <a:extLst>
              <a:ext uri="{FF2B5EF4-FFF2-40B4-BE49-F238E27FC236}">
                <a16:creationId xmlns:a16="http://schemas.microsoft.com/office/drawing/2014/main" id="{7A616138-0635-4ECF-9F57-2A5361B6EE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1186579"/>
              </p:ext>
            </p:extLst>
          </p:nvPr>
        </p:nvGraphicFramePr>
        <p:xfrm>
          <a:off x="8585200" y="874676"/>
          <a:ext cx="2420856" cy="101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0856">
                  <a:extLst>
                    <a:ext uri="{9D8B030D-6E8A-4147-A177-3AD203B41FA5}">
                      <a16:colId xmlns:a16="http://schemas.microsoft.com/office/drawing/2014/main" val="40361282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DB </a:t>
                      </a:r>
                      <a:r>
                        <a:rPr lang="ko-KR" altLang="en-US" dirty="0"/>
                        <a:t>저장</a:t>
                      </a:r>
                      <a:r>
                        <a:rPr lang="en-US" altLang="ko-KR" dirty="0"/>
                        <a:t> 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57925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ko-KR" dirty="0"/>
                        <a:t>Google Drive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Google Sheets API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9591956"/>
                  </a:ext>
                </a:extLst>
              </a:tr>
            </a:tbl>
          </a:graphicData>
        </a:graphic>
      </p:graphicFrame>
      <p:graphicFrame>
        <p:nvGraphicFramePr>
          <p:cNvPr id="36" name="표 35">
            <a:extLst>
              <a:ext uri="{FF2B5EF4-FFF2-40B4-BE49-F238E27FC236}">
                <a16:creationId xmlns:a16="http://schemas.microsoft.com/office/drawing/2014/main" id="{2362D475-C30F-4890-AEEC-3A2D037B7B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4954958"/>
              </p:ext>
            </p:extLst>
          </p:nvPr>
        </p:nvGraphicFramePr>
        <p:xfrm>
          <a:off x="6146800" y="874676"/>
          <a:ext cx="18288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40361282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학습자료 생성</a:t>
                      </a:r>
                      <a:r>
                        <a:rPr lang="en-US" altLang="ko-KR" dirty="0"/>
                        <a:t> 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57925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ko-KR" dirty="0" err="1"/>
                        <a:t>NoteBook</a:t>
                      </a:r>
                      <a:r>
                        <a:rPr lang="en-US" altLang="ko-KR" dirty="0"/>
                        <a:t> LM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9591956"/>
                  </a:ext>
                </a:extLst>
              </a:tr>
            </a:tbl>
          </a:graphicData>
        </a:graphic>
      </p:graphicFrame>
      <p:cxnSp>
        <p:nvCxnSpPr>
          <p:cNvPr id="43" name="연결선: 꺾임 42">
            <a:extLst>
              <a:ext uri="{FF2B5EF4-FFF2-40B4-BE49-F238E27FC236}">
                <a16:creationId xmlns:a16="http://schemas.microsoft.com/office/drawing/2014/main" id="{BDBEE4D4-FA97-4D70-9654-1AF8EDCB5FB0}"/>
              </a:ext>
            </a:extLst>
          </p:cNvPr>
          <p:cNvCxnSpPr>
            <a:cxnSpLocks/>
            <a:stCxn id="35" idx="2"/>
            <a:endCxn id="6" idx="0"/>
          </p:cNvCxnSpPr>
          <p:nvPr/>
        </p:nvCxnSpPr>
        <p:spPr>
          <a:xfrm rot="5400000">
            <a:off x="6818512" y="451884"/>
            <a:ext cx="1543404" cy="441082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연결선: 꺾임 43">
            <a:extLst>
              <a:ext uri="{FF2B5EF4-FFF2-40B4-BE49-F238E27FC236}">
                <a16:creationId xmlns:a16="http://schemas.microsoft.com/office/drawing/2014/main" id="{CF41A51F-D6C8-4C1A-BE17-45519C9C5122}"/>
              </a:ext>
            </a:extLst>
          </p:cNvPr>
          <p:cNvCxnSpPr>
            <a:cxnSpLocks/>
            <a:stCxn id="33" idx="2"/>
            <a:endCxn id="6" idx="0"/>
          </p:cNvCxnSpPr>
          <p:nvPr/>
        </p:nvCxnSpPr>
        <p:spPr>
          <a:xfrm rot="5400000">
            <a:off x="8176035" y="-905639"/>
            <a:ext cx="1543404" cy="712587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연결선: 꺾임 44">
            <a:extLst>
              <a:ext uri="{FF2B5EF4-FFF2-40B4-BE49-F238E27FC236}">
                <a16:creationId xmlns:a16="http://schemas.microsoft.com/office/drawing/2014/main" id="{47AC04DE-C066-47C4-BEAF-CD767DE88514}"/>
              </a:ext>
            </a:extLst>
          </p:cNvPr>
          <p:cNvCxnSpPr>
            <a:cxnSpLocks/>
            <a:stCxn id="34" idx="2"/>
            <a:endCxn id="6" idx="0"/>
          </p:cNvCxnSpPr>
          <p:nvPr/>
        </p:nvCxnSpPr>
        <p:spPr>
          <a:xfrm rot="5400000">
            <a:off x="9260028" y="-2258872"/>
            <a:ext cx="1812644" cy="9563100"/>
          </a:xfrm>
          <a:prstGeom prst="bentConnector3">
            <a:avLst>
              <a:gd name="adj1" fmla="val 58862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988B6D3D-0D78-44DF-A329-4DA7E7DB6852}"/>
              </a:ext>
            </a:extLst>
          </p:cNvPr>
          <p:cNvSpPr/>
          <p:nvPr/>
        </p:nvSpPr>
        <p:spPr>
          <a:xfrm>
            <a:off x="9955953" y="3686843"/>
            <a:ext cx="5980832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600" dirty="0"/>
              <a:t>* </a:t>
            </a:r>
            <a:r>
              <a:rPr lang="ko-KR" altLang="en-US" sz="1600" dirty="0" err="1"/>
              <a:t>파이썬</a:t>
            </a:r>
            <a:r>
              <a:rPr lang="en-US" altLang="ko-KR" sz="1600" dirty="0"/>
              <a:t>(Python) </a:t>
            </a:r>
            <a:r>
              <a:rPr lang="ko-KR" altLang="en-US" sz="1600" dirty="0"/>
              <a:t>기반의 웹 프레임워크인 </a:t>
            </a:r>
            <a:r>
              <a:rPr lang="ko-KR" altLang="en-US" sz="1600" dirty="0" err="1"/>
              <a:t>스트림릿</a:t>
            </a:r>
            <a:r>
              <a:rPr lang="en-US" altLang="ko-KR" sz="1600" dirty="0"/>
              <a:t>(</a:t>
            </a:r>
            <a:r>
              <a:rPr lang="en-US" altLang="ko-KR" sz="1600" dirty="0" err="1"/>
              <a:t>Streamlit</a:t>
            </a:r>
            <a:r>
              <a:rPr lang="en-US" altLang="ko-KR" sz="1600" dirty="0"/>
              <a:t>)</a:t>
            </a:r>
            <a:r>
              <a:rPr lang="ko-KR" altLang="en-US" sz="1600" dirty="0"/>
              <a:t>을 활용해 구축한 실시간 참여 및 현황 분석 시스템</a:t>
            </a:r>
            <a:endParaRPr lang="en-US" altLang="ko-KR" sz="1600" dirty="0"/>
          </a:p>
          <a:p>
            <a:endParaRPr lang="en-US" altLang="ko-KR" sz="1600" dirty="0"/>
          </a:p>
          <a:p>
            <a:r>
              <a:rPr lang="en-US" altLang="ko-KR" sz="1600" dirty="0"/>
              <a:t>* </a:t>
            </a:r>
            <a:r>
              <a:rPr lang="ko-KR" altLang="en-US" sz="1600" dirty="0"/>
              <a:t>단순한 게시판이 아니라</a:t>
            </a:r>
            <a:r>
              <a:rPr lang="en-US" altLang="ko-KR" sz="1600" dirty="0"/>
              <a:t>, </a:t>
            </a:r>
            <a:r>
              <a:rPr lang="ko-KR" altLang="en-US" sz="1600" dirty="0"/>
              <a:t>사용자가 입력한 데이터가 구글 시트와 실시간으로 연동되어 점수와 성취도를 즉시 통계로 보여주는 구조</a:t>
            </a:r>
            <a:endParaRPr lang="en-US" altLang="ko-KR" sz="1600" dirty="0"/>
          </a:p>
          <a:p>
            <a:endParaRPr lang="en-US" altLang="ko-KR" sz="1600" dirty="0"/>
          </a:p>
          <a:p>
            <a:r>
              <a:rPr lang="en-US" altLang="ko-KR" sz="1600" dirty="0"/>
              <a:t>* </a:t>
            </a:r>
            <a:r>
              <a:rPr lang="ko-KR" altLang="en-US" sz="1600" dirty="0"/>
              <a:t>별도의 서버 인프라 구축 비용 없이 클라우드 환경에서 운영되는 웹 애플리케이션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C1F6916E-5E20-4FC1-B4E0-53EAF8CF8342}"/>
              </a:ext>
            </a:extLst>
          </p:cNvPr>
          <p:cNvSpPr/>
          <p:nvPr/>
        </p:nvSpPr>
        <p:spPr>
          <a:xfrm>
            <a:off x="1193800" y="2590800"/>
            <a:ext cx="13944600" cy="1524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827CD149-7A19-4FCA-93A2-9BD338541B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8293267"/>
              </p:ext>
            </p:extLst>
          </p:nvPr>
        </p:nvGraphicFramePr>
        <p:xfrm>
          <a:off x="576724" y="874676"/>
          <a:ext cx="1490584" cy="101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0584">
                  <a:extLst>
                    <a:ext uri="{9D8B030D-6E8A-4147-A177-3AD203B41FA5}">
                      <a16:colId xmlns:a16="http://schemas.microsoft.com/office/drawing/2014/main" val="40361282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아이디어 </a:t>
                      </a:r>
                      <a:endParaRPr lang="en-US" altLang="ko-KR" dirty="0"/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기본구성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57925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나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9591956"/>
                  </a:ext>
                </a:extLst>
              </a:tr>
            </a:tbl>
          </a:graphicData>
        </a:graphic>
      </p:graphicFrame>
      <p:sp>
        <p:nvSpPr>
          <p:cNvPr id="4" name="직사각형 3">
            <a:extLst>
              <a:ext uri="{FF2B5EF4-FFF2-40B4-BE49-F238E27FC236}">
                <a16:creationId xmlns:a16="http://schemas.microsoft.com/office/drawing/2014/main" id="{E380BB13-34F3-4E0A-9A60-BB76C867477E}"/>
              </a:ext>
            </a:extLst>
          </p:cNvPr>
          <p:cNvSpPr/>
          <p:nvPr/>
        </p:nvSpPr>
        <p:spPr>
          <a:xfrm>
            <a:off x="3022600" y="874676"/>
            <a:ext cx="12877800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600" dirty="0"/>
              <a:t>-     </a:t>
            </a:r>
            <a:r>
              <a:rPr lang="ko-KR" altLang="en-US" sz="1600" dirty="0"/>
              <a:t>고등학교 진학한 딸의 처음 중간고사 시험을 준비하는데 잘 준비되고 있는지 평가할 방법이 필요하다</a:t>
            </a:r>
            <a:r>
              <a:rPr lang="en-US" altLang="ko-KR" sz="1600" dirty="0"/>
              <a:t>.</a:t>
            </a:r>
          </a:p>
          <a:p>
            <a:pPr marL="285750" indent="-285750">
              <a:buFontTx/>
              <a:buChar char="-"/>
            </a:pPr>
            <a:r>
              <a:rPr lang="ko-KR" altLang="en-US" sz="1600" dirty="0"/>
              <a:t>교과서 위주의 항목 분석이 필요하다</a:t>
            </a:r>
            <a:r>
              <a:rPr lang="en-US" altLang="ko-KR" sz="1600" dirty="0"/>
              <a:t>.</a:t>
            </a:r>
          </a:p>
          <a:p>
            <a:pPr marL="285750" indent="-285750">
              <a:buFontTx/>
              <a:buChar char="-"/>
            </a:pPr>
            <a:r>
              <a:rPr lang="ko-KR" altLang="en-US" sz="1600" dirty="0"/>
              <a:t>현재 수준을 평가 하고 싶다</a:t>
            </a:r>
            <a:r>
              <a:rPr lang="en-US" altLang="ko-KR" sz="1600" dirty="0"/>
              <a:t>.</a:t>
            </a:r>
          </a:p>
          <a:p>
            <a:pPr marL="285750" indent="-285750">
              <a:buFontTx/>
              <a:buChar char="-"/>
            </a:pPr>
            <a:r>
              <a:rPr lang="ko-KR" altLang="en-US" sz="1600" dirty="0"/>
              <a:t>학교에서 지난 </a:t>
            </a:r>
            <a:r>
              <a:rPr lang="en-US" altLang="ko-KR" sz="1600" dirty="0"/>
              <a:t>3</a:t>
            </a:r>
            <a:r>
              <a:rPr lang="ko-KR" altLang="en-US" sz="1600" dirty="0"/>
              <a:t>년간의 문제 정보를 </a:t>
            </a:r>
            <a:r>
              <a:rPr lang="en-US" altLang="ko-KR" sz="1600" dirty="0"/>
              <a:t>PDF</a:t>
            </a:r>
            <a:r>
              <a:rPr lang="ko-KR" altLang="en-US" sz="1600" dirty="0"/>
              <a:t>로 제공한다</a:t>
            </a:r>
            <a:r>
              <a:rPr lang="en-US" altLang="ko-KR" sz="1600" dirty="0"/>
              <a:t>.</a:t>
            </a:r>
          </a:p>
          <a:p>
            <a:pPr marL="285750" indent="-285750">
              <a:buFontTx/>
              <a:buChar char="-"/>
            </a:pPr>
            <a:r>
              <a:rPr lang="ko-KR" altLang="en-US" sz="1600" dirty="0"/>
              <a:t>언제 어디서든 접근이 필요하다</a:t>
            </a:r>
            <a:r>
              <a:rPr lang="en-US" altLang="ko-KR" sz="1600" dirty="0"/>
              <a:t>.</a:t>
            </a:r>
          </a:p>
          <a:p>
            <a:pPr marL="285750" indent="-285750">
              <a:buFontTx/>
              <a:buChar char="-"/>
            </a:pPr>
            <a:r>
              <a:rPr lang="ko-KR" altLang="en-US" sz="1600" dirty="0"/>
              <a:t>친구와의 경쟁이 필요하다</a:t>
            </a:r>
            <a:r>
              <a:rPr lang="en-US" altLang="ko-KR" sz="1600" dirty="0"/>
              <a:t>.</a:t>
            </a:r>
            <a:r>
              <a:rPr lang="ko-KR" altLang="en-US" sz="1600" dirty="0"/>
              <a:t> </a:t>
            </a:r>
            <a:endParaRPr lang="en-US" altLang="ko-KR" sz="1600" dirty="0"/>
          </a:p>
          <a:p>
            <a:r>
              <a:rPr lang="en-US" altLang="ko-KR" sz="1600" dirty="0"/>
              <a:t>……………..</a:t>
            </a:r>
          </a:p>
          <a:p>
            <a:r>
              <a:rPr lang="ko-KR" altLang="en-US" sz="1600" dirty="0"/>
              <a:t>신입사원 교육용으로 변경해서 사용할 수 있겠다</a:t>
            </a:r>
            <a:r>
              <a:rPr lang="en-US" altLang="ko-KR" sz="1600" dirty="0"/>
              <a:t>.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E8A689E3-FC19-4F9F-88F4-F508B27395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9292411"/>
              </p:ext>
            </p:extLst>
          </p:nvPr>
        </p:nvGraphicFramePr>
        <p:xfrm>
          <a:off x="611355" y="3733800"/>
          <a:ext cx="2420856" cy="1285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0856">
                  <a:extLst>
                    <a:ext uri="{9D8B030D-6E8A-4147-A177-3AD203B41FA5}">
                      <a16:colId xmlns:a16="http://schemas.microsoft.com/office/drawing/2014/main" val="40361282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ko-KR" altLang="en-US" dirty="0"/>
                        <a:t>구현 방법 검토</a:t>
                      </a:r>
                      <a:endParaRPr lang="en-US" altLang="ko-KR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아이디어 구체화 </a:t>
                      </a:r>
                      <a:endParaRPr lang="en-US" altLang="ko-KR" dirty="0"/>
                    </a:p>
                    <a:p>
                      <a:r>
                        <a:rPr lang="en-US" altLang="ko-KR" dirty="0"/>
                        <a:t>Coding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57925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ko-KR" dirty="0"/>
                        <a:t>GEMINI / Chat GPT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9591956"/>
                  </a:ext>
                </a:extLst>
              </a:tr>
            </a:tbl>
          </a:graphicData>
        </a:graphic>
      </p:graphicFrame>
      <p:sp>
        <p:nvSpPr>
          <p:cNvPr id="6" name="직사각형 5">
            <a:extLst>
              <a:ext uri="{FF2B5EF4-FFF2-40B4-BE49-F238E27FC236}">
                <a16:creationId xmlns:a16="http://schemas.microsoft.com/office/drawing/2014/main" id="{77F1A39F-775C-47D1-BD04-49099CC19CE4}"/>
              </a:ext>
            </a:extLst>
          </p:cNvPr>
          <p:cNvSpPr/>
          <p:nvPr/>
        </p:nvSpPr>
        <p:spPr>
          <a:xfrm>
            <a:off x="3022600" y="3717324"/>
            <a:ext cx="1287780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 sz="1600" dirty="0"/>
              <a:t>퀴즈 앱을 만들고 싶다</a:t>
            </a:r>
            <a:r>
              <a:rPr lang="en-US" altLang="ko-KR" sz="1600" dirty="0"/>
              <a:t>.</a:t>
            </a:r>
          </a:p>
          <a:p>
            <a:pPr marL="285750" indent="-285750">
              <a:buFontTx/>
              <a:buChar char="-"/>
            </a:pPr>
            <a:r>
              <a:rPr lang="ko-KR" altLang="en-US" sz="1600" dirty="0"/>
              <a:t>웹상에서 구현이 가능한가</a:t>
            </a:r>
            <a:r>
              <a:rPr lang="en-US" altLang="ko-KR" sz="1600" dirty="0"/>
              <a:t>?</a:t>
            </a:r>
          </a:p>
          <a:p>
            <a:pPr marL="285750" indent="-285750">
              <a:buFontTx/>
              <a:buChar char="-"/>
            </a:pPr>
            <a:r>
              <a:rPr lang="ko-KR" altLang="en-US" sz="1600" dirty="0"/>
              <a:t>문제 출제를 위한 양식은 어떻게 해야 하는가</a:t>
            </a:r>
            <a:r>
              <a:rPr lang="en-US" altLang="ko-KR" sz="1600" dirty="0"/>
              <a:t>?</a:t>
            </a:r>
          </a:p>
          <a:p>
            <a:pPr marL="285750" indent="-285750">
              <a:buFontTx/>
              <a:buChar char="-"/>
            </a:pPr>
            <a:r>
              <a:rPr lang="ko-KR" altLang="en-US" sz="1600" dirty="0"/>
              <a:t>코딩은 어떻게 할까</a:t>
            </a:r>
            <a:r>
              <a:rPr lang="en-US" altLang="ko-KR" sz="1600" dirty="0"/>
              <a:t>?</a:t>
            </a:r>
          </a:p>
          <a:p>
            <a:pPr marL="285750" indent="-285750">
              <a:buFontTx/>
              <a:buChar char="-"/>
            </a:pPr>
            <a:r>
              <a:rPr lang="ko-KR" altLang="en-US" sz="1600" dirty="0"/>
              <a:t>화면 구성을 깔끔하게</a:t>
            </a:r>
            <a:r>
              <a:rPr lang="en-US" altLang="ko-KR" sz="1600" dirty="0"/>
              <a:t>..</a:t>
            </a:r>
            <a:r>
              <a:rPr lang="ko-KR" altLang="en-US" sz="1600" dirty="0" err="1"/>
              <a:t>등등등</a:t>
            </a:r>
            <a:endParaRPr lang="ko-KR" altLang="en-US" sz="160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604240A7-EAE8-490D-831B-862BFAF60C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1000" y="5334000"/>
            <a:ext cx="4679774" cy="3484826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FC2BFD1F-5C0B-4893-BA4A-861156B71B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1600" y="4110978"/>
            <a:ext cx="5191125" cy="4714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60771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06BF1AC8-1EBC-4B99-9228-5EAB65EA46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6326070"/>
              </p:ext>
            </p:extLst>
          </p:nvPr>
        </p:nvGraphicFramePr>
        <p:xfrm>
          <a:off x="889000" y="914400"/>
          <a:ext cx="18288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40361282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학습자료 생성</a:t>
                      </a:r>
                      <a:r>
                        <a:rPr lang="en-US" altLang="ko-KR" dirty="0"/>
                        <a:t> 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57925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ko-KR" dirty="0" err="1"/>
                        <a:t>NoteBook</a:t>
                      </a:r>
                      <a:r>
                        <a:rPr lang="en-US" altLang="ko-KR" dirty="0"/>
                        <a:t> LM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9591956"/>
                  </a:ext>
                </a:extLst>
              </a:tr>
            </a:tbl>
          </a:graphicData>
        </a:graphic>
      </p:graphicFrame>
      <p:pic>
        <p:nvPicPr>
          <p:cNvPr id="3" name="그림 2">
            <a:extLst>
              <a:ext uri="{FF2B5EF4-FFF2-40B4-BE49-F238E27FC236}">
                <a16:creationId xmlns:a16="http://schemas.microsoft.com/office/drawing/2014/main" id="{65BF72AF-CFE8-4E9B-BC56-AC85551760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6000" y="842962"/>
            <a:ext cx="11630025" cy="7458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2500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F9308401-ED11-49E0-AED8-478FA21115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7108348"/>
              </p:ext>
            </p:extLst>
          </p:nvPr>
        </p:nvGraphicFramePr>
        <p:xfrm>
          <a:off x="889000" y="609600"/>
          <a:ext cx="2420856" cy="101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0856">
                  <a:extLst>
                    <a:ext uri="{9D8B030D-6E8A-4147-A177-3AD203B41FA5}">
                      <a16:colId xmlns:a16="http://schemas.microsoft.com/office/drawing/2014/main" val="40361282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DB </a:t>
                      </a:r>
                      <a:r>
                        <a:rPr lang="ko-KR" altLang="en-US" dirty="0"/>
                        <a:t>저장</a:t>
                      </a:r>
                      <a:r>
                        <a:rPr lang="en-US" altLang="ko-KR" dirty="0"/>
                        <a:t> 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57925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ko-KR" dirty="0"/>
                        <a:t>Google Drive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Google Sheets API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9591956"/>
                  </a:ext>
                </a:extLst>
              </a:tr>
            </a:tbl>
          </a:graphicData>
        </a:graphic>
      </p:graphicFrame>
      <p:pic>
        <p:nvPicPr>
          <p:cNvPr id="3" name="그림 2">
            <a:extLst>
              <a:ext uri="{FF2B5EF4-FFF2-40B4-BE49-F238E27FC236}">
                <a16:creationId xmlns:a16="http://schemas.microsoft.com/office/drawing/2014/main" id="{695C5090-CE8B-45D1-B709-A45E4D56C6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0800" y="609600"/>
            <a:ext cx="11775625" cy="6767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3022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DE05B1C9-82AC-423A-A93B-F1F263E0B6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606421"/>
              </p:ext>
            </p:extLst>
          </p:nvPr>
        </p:nvGraphicFramePr>
        <p:xfrm>
          <a:off x="736600" y="533400"/>
          <a:ext cx="2212148" cy="101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2148">
                  <a:extLst>
                    <a:ext uri="{9D8B030D-6E8A-4147-A177-3AD203B41FA5}">
                      <a16:colId xmlns:a16="http://schemas.microsoft.com/office/drawing/2014/main" val="40361282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실행 코드 배포</a:t>
                      </a:r>
                      <a:r>
                        <a:rPr lang="en-US" altLang="ko-KR" dirty="0"/>
                        <a:t> 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57925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ko-KR" altLang="en-US" dirty="0" err="1"/>
                        <a:t>스트림릿</a:t>
                      </a:r>
                      <a:r>
                        <a:rPr lang="en-US" altLang="ko-KR" dirty="0"/>
                        <a:t>(</a:t>
                      </a:r>
                      <a:r>
                        <a:rPr lang="en-US" altLang="ko-KR" dirty="0" err="1"/>
                        <a:t>Streamlit</a:t>
                      </a:r>
                      <a:r>
                        <a:rPr lang="en-US" altLang="ko-KR" dirty="0"/>
                        <a:t>)</a:t>
                      </a:r>
                      <a:r>
                        <a:rPr lang="ko-KR" altLang="en-US" dirty="0"/>
                        <a:t> 클라우드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9591956"/>
                  </a:ext>
                </a:extLst>
              </a:tr>
            </a:tbl>
          </a:graphicData>
        </a:graphic>
      </p:graphicFrame>
      <p:pic>
        <p:nvPicPr>
          <p:cNvPr id="3" name="그림 2">
            <a:extLst>
              <a:ext uri="{FF2B5EF4-FFF2-40B4-BE49-F238E27FC236}">
                <a16:creationId xmlns:a16="http://schemas.microsoft.com/office/drawing/2014/main" id="{DC4656D0-8C03-489E-9A97-A4EBD29B99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1200" y="533400"/>
            <a:ext cx="12576880" cy="7204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38527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ACF3988A-9DDF-4BB0-ABFE-25AE187B78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237922"/>
              </p:ext>
            </p:extLst>
          </p:nvPr>
        </p:nvGraphicFramePr>
        <p:xfrm>
          <a:off x="660400" y="381000"/>
          <a:ext cx="1905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000">
                  <a:extLst>
                    <a:ext uri="{9D8B030D-6E8A-4147-A177-3AD203B41FA5}">
                      <a16:colId xmlns:a16="http://schemas.microsoft.com/office/drawing/2014/main" val="40361282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코드 저장소</a:t>
                      </a:r>
                      <a:r>
                        <a:rPr lang="en-US" altLang="ko-KR" dirty="0"/>
                        <a:t> 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57925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ko-KR" dirty="0"/>
                        <a:t>Git Hub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9591956"/>
                  </a:ext>
                </a:extLst>
              </a:tr>
            </a:tbl>
          </a:graphicData>
        </a:graphic>
      </p:graphicFrame>
      <p:pic>
        <p:nvPicPr>
          <p:cNvPr id="3" name="그림 2">
            <a:extLst>
              <a:ext uri="{FF2B5EF4-FFF2-40B4-BE49-F238E27FC236}">
                <a16:creationId xmlns:a16="http://schemas.microsoft.com/office/drawing/2014/main" id="{9DE3107C-B471-420E-AA1D-D7A9E31B80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9800" y="581025"/>
            <a:ext cx="11258550" cy="7981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42180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214</Words>
  <Application>Microsoft Office PowerPoint</Application>
  <PresentationFormat>사용자 지정</PresentationFormat>
  <Paragraphs>51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0" baseType="lpstr"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cp:lastModifiedBy>Lee, Junho</cp:lastModifiedBy>
  <cp:revision>5</cp:revision>
  <dcterms:created xsi:type="dcterms:W3CDTF">2006-08-16T00:00:00Z</dcterms:created>
  <dcterms:modified xsi:type="dcterms:W3CDTF">2026-05-13T08:29:37Z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name="Fasoo_Trace_ID" pid="2">
    <vt:lpwstr>eyJub2RlMSI6eyJkc2QiOiIwMTAwMDAwMDAwMDAyMjE4IiwibG9nVGltZSI6IjIwMjYtMDUtMTNUMDg6Mjg6MTdaIiwicElEIjoxLCJwcm9jZXNzSWQiOjEzMzg4LCJwcm9jZXNzTmFtZSI6IlBPV0VSUE5ULkVYRSIsInRyYWNlSWQiOiJBQkYzQUJEOEIzRjE0QTc3OTdFRDQwRDc0MEE2QzZCOCIsInVzZXJDb2RlIjoiamhsZWUifSwibm9kZTIiOnsiZHNkIjoiMDEwMDAwMDAwMDAwMjIxOCIsImxvZ1RpbWUiOiIyMDI2LTA1LTEzVDA4OjI4OjE3WiIsInBJRCI6MSwicHJvY2Vzc0lkIjoxMzM4OCwicHJvY2Vzc05hbWUiOiJQT1dFUlBOVC5FWEUiLCJ0cmFjZUlkIjoiQUJGM0FCRDhCM0YxNEE3Nzk3RUQ0MEQ3NDBBNkM2QjgiLCJ1c2VyQ29kZSI6ImpobGVlIn0sIm5vZGUzIjp7ImRzZCI6IjAxMDAwMDAwMDAwMDIyMTgiLCJsb2dUaW1lIjoiMjAyNi0wNS0xM1QwODoyODoxN1oiLCJwSUQiOjEsInByb2Nlc3NJZCI6MTMzODgsInByb2Nlc3NOYW1lIjoiUE9XRVJQTlQuRVhFIiwidHJhY2VJZCI6IkFCRjNBQkQ4QjNGMTRBNzc5N0VENDBENzQwQTZDNkI4IiwidXNlckNvZGUiOiJqaGxlZSJ9LCJub2RlNCI6eyJkc2QiOiIwMTAwMDAwMDAwMDAyMjE4IiwibG9nVGltZSI6IjIwMjYtMDUtMTNUMDg6Mjg6MTdaIiwicElEIjoxLCJwcm9jZXNzSWQiOjEzMzg4LCJwcm9jZXNzTmFtZSI6IlBPV0VSUE5ULkVYRSIsInRyYWNlSWQiOiJBQkYzQUJEOEIzRjE0QTc3OTdFRDQwRDc0MEE2QzZCOCIsInVzZXJDb2RlIjoiamhsZWUifSwibm9kZTUiOnsiZHNkIjoiMDAwMDAwMDAwMDAwMDAwMCIsImxvZ1RpbWUiOiIyMDI2LTA1LTEzVDA4OjMwOjAwWiIsInBJRCI6MjA0OCwicHJvY2Vzc0lkIjoxMzM4OCwicHJvY2Vzc05hbWUiOiJQT1dFUlBOVC5FWEUiLCJ0cmFjZUlkIjoiOTA1NkJBNzQwOEU1NEFFNEFCN0VGRTIxOTAxQkRGRDMiLCJ1c2VyQ29kZSI6ImpobGVlIn0sIm5vZGVDb3VudCI6Miwicm9vdFRyYWNlSWQiOiJBQkYzQUJEOEIzRjE0QTc3OTdFRDQwRDc0MEE2QzZCOCJ9</vt:lpwstr>
  </property>
</Properties>
</file>